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链路-AMR-S3-1"/>
          <p:cNvCxnSpPr/>
          <p:nvPr/>
        </p:nvCxnSpPr>
        <p:spPr>
          <a:xfrm>
            <a:off x="1389888" y="1335024"/>
            <a:ext cx="1129284" cy="521208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链路-LiDAR-S3-1"/>
          <p:cNvCxnSpPr/>
          <p:nvPr/>
        </p:nvCxnSpPr>
        <p:spPr>
          <a:xfrm flipV="1">
            <a:off x="1225295" y="2130552"/>
            <a:ext cx="1293877" cy="521208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链路-机械臂-S4-1"/>
          <p:cNvCxnSpPr/>
          <p:nvPr/>
        </p:nvCxnSpPr>
        <p:spPr>
          <a:xfrm>
            <a:off x="1371600" y="4370832"/>
            <a:ext cx="1147572" cy="50292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链路-电机-S4-1"/>
          <p:cNvCxnSpPr/>
          <p:nvPr/>
        </p:nvCxnSpPr>
        <p:spPr>
          <a:xfrm flipV="1">
            <a:off x="1353312" y="5148072"/>
            <a:ext cx="1165860" cy="50292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链路-S3-S0-1"/>
          <p:cNvCxnSpPr/>
          <p:nvPr/>
        </p:nvCxnSpPr>
        <p:spPr>
          <a:xfrm>
            <a:off x="3479291" y="1993392"/>
            <a:ext cx="681229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链路-S3-S0-2"/>
          <p:cNvCxnSpPr/>
          <p:nvPr/>
        </p:nvCxnSpPr>
        <p:spPr>
          <a:xfrm>
            <a:off x="4160520" y="1993392"/>
            <a:ext cx="0" cy="1435608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链路-S3-S0-3"/>
          <p:cNvCxnSpPr/>
          <p:nvPr/>
        </p:nvCxnSpPr>
        <p:spPr>
          <a:xfrm>
            <a:off x="4160520" y="3429000"/>
            <a:ext cx="681228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链路-S4-S0-1"/>
          <p:cNvCxnSpPr/>
          <p:nvPr/>
        </p:nvCxnSpPr>
        <p:spPr>
          <a:xfrm>
            <a:off x="3479291" y="5010912"/>
            <a:ext cx="955549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链路-S4-S0-2"/>
          <p:cNvCxnSpPr/>
          <p:nvPr/>
        </p:nvCxnSpPr>
        <p:spPr>
          <a:xfrm flipV="1">
            <a:off x="4434840" y="3703320"/>
            <a:ext cx="0" cy="1307592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链路-S4-S0-3"/>
          <p:cNvCxnSpPr/>
          <p:nvPr/>
        </p:nvCxnSpPr>
        <p:spPr>
          <a:xfrm>
            <a:off x="4434840" y="3703320"/>
            <a:ext cx="406908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链路-P1-1"/>
          <p:cNvCxnSpPr/>
          <p:nvPr/>
        </p:nvCxnSpPr>
        <p:spPr>
          <a:xfrm>
            <a:off x="5801868" y="3429000"/>
            <a:ext cx="256032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链路-P1-2"/>
          <p:cNvCxnSpPr/>
          <p:nvPr/>
        </p:nvCxnSpPr>
        <p:spPr>
          <a:xfrm flipV="1">
            <a:off x="6057900" y="1993392"/>
            <a:ext cx="0" cy="1435608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链路-P1-3"/>
          <p:cNvCxnSpPr/>
          <p:nvPr/>
        </p:nvCxnSpPr>
        <p:spPr>
          <a:xfrm>
            <a:off x="6057900" y="1993392"/>
            <a:ext cx="2624328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链路-P2-1"/>
          <p:cNvCxnSpPr/>
          <p:nvPr/>
        </p:nvCxnSpPr>
        <p:spPr>
          <a:xfrm>
            <a:off x="5801868" y="3703320"/>
            <a:ext cx="256032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链路-P2-2"/>
          <p:cNvCxnSpPr/>
          <p:nvPr/>
        </p:nvCxnSpPr>
        <p:spPr>
          <a:xfrm>
            <a:off x="6057900" y="3703320"/>
            <a:ext cx="0" cy="1307592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链路-P2-3"/>
          <p:cNvCxnSpPr/>
          <p:nvPr/>
        </p:nvCxnSpPr>
        <p:spPr>
          <a:xfrm>
            <a:off x="6057900" y="5010912"/>
            <a:ext cx="2624328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链路-S1-制动-1"/>
          <p:cNvCxnSpPr/>
          <p:nvPr/>
        </p:nvCxnSpPr>
        <p:spPr>
          <a:xfrm>
            <a:off x="9642348" y="1856232"/>
            <a:ext cx="214884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链路-S1-制动-2"/>
          <p:cNvCxnSpPr/>
          <p:nvPr/>
        </p:nvCxnSpPr>
        <p:spPr>
          <a:xfrm flipV="1">
            <a:off x="9857232" y="1207008"/>
            <a:ext cx="0" cy="649224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链路-S1-制动-3"/>
          <p:cNvCxnSpPr/>
          <p:nvPr/>
        </p:nvCxnSpPr>
        <p:spPr>
          <a:xfrm>
            <a:off x="9857232" y="1207008"/>
            <a:ext cx="731520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链路-S1-协作-1"/>
          <p:cNvCxnSpPr/>
          <p:nvPr/>
        </p:nvCxnSpPr>
        <p:spPr>
          <a:xfrm>
            <a:off x="9642348" y="2130552"/>
            <a:ext cx="525780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链路-S1-协作-2"/>
          <p:cNvCxnSpPr/>
          <p:nvPr/>
        </p:nvCxnSpPr>
        <p:spPr>
          <a:xfrm>
            <a:off x="10168128" y="2130552"/>
            <a:ext cx="0" cy="59436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链路-S1-协作-3"/>
          <p:cNvCxnSpPr/>
          <p:nvPr/>
        </p:nvCxnSpPr>
        <p:spPr>
          <a:xfrm>
            <a:off x="10168128" y="2724912"/>
            <a:ext cx="420624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链路-S2-保护-1"/>
          <p:cNvCxnSpPr/>
          <p:nvPr/>
        </p:nvCxnSpPr>
        <p:spPr>
          <a:xfrm>
            <a:off x="9642348" y="5010912"/>
            <a:ext cx="946404" cy="0"/>
          </a:xfrm>
          <a:prstGeom prst="line">
            <a:avLst/>
          </a:prstGeom>
          <a:ln w="15240" cap="rnd">
            <a:solidFill>
              <a:srgbClr val="B8C0C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-A-接入-1"/>
          <p:cNvCxnSpPr/>
          <p:nvPr/>
        </p:nvCxnSpPr>
        <p:spPr>
          <a:xfrm>
            <a:off x="1389888" y="1280160"/>
            <a:ext cx="1129284" cy="521208"/>
          </a:xfrm>
          <a:prstGeom prst="line">
            <a:avLst/>
          </a:prstGeom>
          <a:ln w="35560" cap="rnd">
            <a:solidFill>
              <a:srgbClr val="C62828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-A-上行-1"/>
          <p:cNvCxnSpPr/>
          <p:nvPr/>
        </p:nvCxnSpPr>
        <p:spPr>
          <a:xfrm>
            <a:off x="3479291" y="1929384"/>
            <a:ext cx="745237" cy="0"/>
          </a:xfrm>
          <a:prstGeom prst="line">
            <a:avLst/>
          </a:prstGeom>
          <a:ln w="35560" cap="rnd">
            <a:solidFill>
              <a:srgbClr val="C6282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-A-上行-2"/>
          <p:cNvCxnSpPr/>
          <p:nvPr/>
        </p:nvCxnSpPr>
        <p:spPr>
          <a:xfrm>
            <a:off x="4224528" y="1929384"/>
            <a:ext cx="0" cy="1435608"/>
          </a:xfrm>
          <a:prstGeom prst="line">
            <a:avLst/>
          </a:prstGeom>
          <a:ln w="35560" cap="rnd">
            <a:solidFill>
              <a:srgbClr val="C6282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-A-上行-3"/>
          <p:cNvCxnSpPr/>
          <p:nvPr/>
        </p:nvCxnSpPr>
        <p:spPr>
          <a:xfrm>
            <a:off x="4224528" y="3364992"/>
            <a:ext cx="617220" cy="0"/>
          </a:xfrm>
          <a:prstGeom prst="line">
            <a:avLst/>
          </a:prstGeom>
          <a:ln w="35560" cap="rnd">
            <a:solidFill>
              <a:srgbClr val="C62828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-A-P1-1"/>
          <p:cNvCxnSpPr/>
          <p:nvPr/>
        </p:nvCxnSpPr>
        <p:spPr>
          <a:xfrm>
            <a:off x="5801868" y="3364992"/>
            <a:ext cx="192024" cy="0"/>
          </a:xfrm>
          <a:prstGeom prst="line">
            <a:avLst/>
          </a:prstGeom>
          <a:ln w="35560" cap="rnd">
            <a:solidFill>
              <a:srgbClr val="C6282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-A-P1-2"/>
          <p:cNvCxnSpPr/>
          <p:nvPr/>
        </p:nvCxnSpPr>
        <p:spPr>
          <a:xfrm flipV="1">
            <a:off x="5993892" y="1929384"/>
            <a:ext cx="0" cy="1435608"/>
          </a:xfrm>
          <a:prstGeom prst="line">
            <a:avLst/>
          </a:prstGeom>
          <a:ln w="35560" cap="rnd">
            <a:solidFill>
              <a:srgbClr val="C6282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-A-P1-3"/>
          <p:cNvCxnSpPr/>
          <p:nvPr/>
        </p:nvCxnSpPr>
        <p:spPr>
          <a:xfrm>
            <a:off x="5993892" y="1929384"/>
            <a:ext cx="2688336" cy="0"/>
          </a:xfrm>
          <a:prstGeom prst="line">
            <a:avLst/>
          </a:prstGeom>
          <a:ln w="35560" cap="rnd">
            <a:solidFill>
              <a:srgbClr val="C62828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-A-制动-1"/>
          <p:cNvCxnSpPr/>
          <p:nvPr/>
        </p:nvCxnSpPr>
        <p:spPr>
          <a:xfrm>
            <a:off x="9642348" y="1801368"/>
            <a:ext cx="160019" cy="0"/>
          </a:xfrm>
          <a:prstGeom prst="line">
            <a:avLst/>
          </a:prstGeom>
          <a:ln w="35560" cap="rnd">
            <a:solidFill>
              <a:srgbClr val="C6282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-A-制动-2"/>
          <p:cNvCxnSpPr/>
          <p:nvPr/>
        </p:nvCxnSpPr>
        <p:spPr>
          <a:xfrm flipV="1">
            <a:off x="9802367" y="1152144"/>
            <a:ext cx="0" cy="649224"/>
          </a:xfrm>
          <a:prstGeom prst="line">
            <a:avLst/>
          </a:prstGeom>
          <a:ln w="35560" cap="rnd">
            <a:solidFill>
              <a:srgbClr val="C6282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-A-制动-3"/>
          <p:cNvCxnSpPr/>
          <p:nvPr/>
        </p:nvCxnSpPr>
        <p:spPr>
          <a:xfrm>
            <a:off x="9802367" y="1152144"/>
            <a:ext cx="786385" cy="0"/>
          </a:xfrm>
          <a:prstGeom prst="line">
            <a:avLst/>
          </a:prstGeom>
          <a:ln w="35560" cap="rnd">
            <a:solidFill>
              <a:srgbClr val="C62828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-B-接入-1"/>
          <p:cNvCxnSpPr/>
          <p:nvPr/>
        </p:nvCxnSpPr>
        <p:spPr>
          <a:xfrm>
            <a:off x="1371600" y="4315968"/>
            <a:ext cx="1147572" cy="502920"/>
          </a:xfrm>
          <a:prstGeom prst="line">
            <a:avLst/>
          </a:prstGeom>
          <a:ln w="35560" cap="rnd">
            <a:solidFill>
              <a:srgbClr val="1565C0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-B-上行-1"/>
          <p:cNvCxnSpPr/>
          <p:nvPr/>
        </p:nvCxnSpPr>
        <p:spPr>
          <a:xfrm>
            <a:off x="3479291" y="4946904"/>
            <a:ext cx="891540" cy="0"/>
          </a:xfrm>
          <a:prstGeom prst="line">
            <a:avLst/>
          </a:prstGeom>
          <a:ln w="35560" cap="rnd">
            <a:solidFill>
              <a:srgbClr val="1565C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-B-上行-2"/>
          <p:cNvCxnSpPr/>
          <p:nvPr/>
        </p:nvCxnSpPr>
        <p:spPr>
          <a:xfrm flipV="1">
            <a:off x="4370831" y="3639312"/>
            <a:ext cx="0" cy="1307592"/>
          </a:xfrm>
          <a:prstGeom prst="line">
            <a:avLst/>
          </a:prstGeom>
          <a:ln w="35560" cap="rnd">
            <a:solidFill>
              <a:srgbClr val="1565C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-B-上行-3"/>
          <p:cNvCxnSpPr/>
          <p:nvPr/>
        </p:nvCxnSpPr>
        <p:spPr>
          <a:xfrm>
            <a:off x="4370831" y="3639312"/>
            <a:ext cx="470917" cy="0"/>
          </a:xfrm>
          <a:prstGeom prst="line">
            <a:avLst/>
          </a:prstGeom>
          <a:ln w="35560" cap="rnd">
            <a:solidFill>
              <a:srgbClr val="1565C0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-B-P1-1"/>
          <p:cNvCxnSpPr/>
          <p:nvPr/>
        </p:nvCxnSpPr>
        <p:spPr>
          <a:xfrm>
            <a:off x="5801868" y="3493008"/>
            <a:ext cx="320040" cy="0"/>
          </a:xfrm>
          <a:prstGeom prst="line">
            <a:avLst/>
          </a:prstGeom>
          <a:ln w="35560" cap="rnd">
            <a:solidFill>
              <a:srgbClr val="1565C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-B-P1-2"/>
          <p:cNvCxnSpPr/>
          <p:nvPr/>
        </p:nvCxnSpPr>
        <p:spPr>
          <a:xfrm flipV="1">
            <a:off x="6121908" y="2057400"/>
            <a:ext cx="0" cy="1435608"/>
          </a:xfrm>
          <a:prstGeom prst="line">
            <a:avLst/>
          </a:prstGeom>
          <a:ln w="35560" cap="rnd">
            <a:solidFill>
              <a:srgbClr val="1565C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-B-P1-3"/>
          <p:cNvCxnSpPr/>
          <p:nvPr/>
        </p:nvCxnSpPr>
        <p:spPr>
          <a:xfrm>
            <a:off x="6121908" y="2057400"/>
            <a:ext cx="2560320" cy="0"/>
          </a:xfrm>
          <a:prstGeom prst="line">
            <a:avLst/>
          </a:prstGeom>
          <a:ln w="35560" cap="rnd">
            <a:solidFill>
              <a:srgbClr val="1565C0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-B-协作-1"/>
          <p:cNvCxnSpPr/>
          <p:nvPr/>
        </p:nvCxnSpPr>
        <p:spPr>
          <a:xfrm>
            <a:off x="9642348" y="2185416"/>
            <a:ext cx="470915" cy="0"/>
          </a:xfrm>
          <a:prstGeom prst="line">
            <a:avLst/>
          </a:prstGeom>
          <a:ln w="35560" cap="rnd">
            <a:solidFill>
              <a:srgbClr val="1565C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-B-协作-2"/>
          <p:cNvCxnSpPr/>
          <p:nvPr/>
        </p:nvCxnSpPr>
        <p:spPr>
          <a:xfrm>
            <a:off x="10113263" y="2185416"/>
            <a:ext cx="0" cy="594360"/>
          </a:xfrm>
          <a:prstGeom prst="line">
            <a:avLst/>
          </a:prstGeom>
          <a:ln w="35560" cap="rnd">
            <a:solidFill>
              <a:srgbClr val="1565C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-B-协作-3"/>
          <p:cNvCxnSpPr/>
          <p:nvPr/>
        </p:nvCxnSpPr>
        <p:spPr>
          <a:xfrm>
            <a:off x="10113263" y="2779776"/>
            <a:ext cx="475489" cy="0"/>
          </a:xfrm>
          <a:prstGeom prst="line">
            <a:avLst/>
          </a:prstGeom>
          <a:ln w="35560" cap="rnd">
            <a:solidFill>
              <a:srgbClr val="1565C0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-C-接入-1"/>
          <p:cNvCxnSpPr/>
          <p:nvPr/>
        </p:nvCxnSpPr>
        <p:spPr>
          <a:xfrm flipV="1">
            <a:off x="1353312" y="5202936"/>
            <a:ext cx="1165860" cy="502919"/>
          </a:xfrm>
          <a:prstGeom prst="line">
            <a:avLst/>
          </a:prstGeom>
          <a:ln w="35560" cap="rnd">
            <a:solidFill>
              <a:srgbClr val="6A1B9A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-C-上行-1"/>
          <p:cNvCxnSpPr/>
          <p:nvPr/>
        </p:nvCxnSpPr>
        <p:spPr>
          <a:xfrm>
            <a:off x="3479291" y="5074920"/>
            <a:ext cx="1019557" cy="0"/>
          </a:xfrm>
          <a:prstGeom prst="line">
            <a:avLst/>
          </a:prstGeom>
          <a:ln w="35560" cap="rnd">
            <a:solidFill>
              <a:srgbClr val="6A1B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-C-上行-2"/>
          <p:cNvCxnSpPr/>
          <p:nvPr/>
        </p:nvCxnSpPr>
        <p:spPr>
          <a:xfrm flipV="1">
            <a:off x="4498848" y="3767328"/>
            <a:ext cx="0" cy="1307592"/>
          </a:xfrm>
          <a:prstGeom prst="line">
            <a:avLst/>
          </a:prstGeom>
          <a:ln w="35560" cap="rnd">
            <a:solidFill>
              <a:srgbClr val="6A1B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-C-上行-3"/>
          <p:cNvCxnSpPr/>
          <p:nvPr/>
        </p:nvCxnSpPr>
        <p:spPr>
          <a:xfrm>
            <a:off x="4498848" y="3767328"/>
            <a:ext cx="342900" cy="0"/>
          </a:xfrm>
          <a:prstGeom prst="line">
            <a:avLst/>
          </a:prstGeom>
          <a:ln w="35560" cap="rnd">
            <a:solidFill>
              <a:srgbClr val="6A1B9A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-C-P2-1"/>
          <p:cNvCxnSpPr/>
          <p:nvPr/>
        </p:nvCxnSpPr>
        <p:spPr>
          <a:xfrm>
            <a:off x="5801868" y="3639312"/>
            <a:ext cx="320040" cy="0"/>
          </a:xfrm>
          <a:prstGeom prst="line">
            <a:avLst/>
          </a:prstGeom>
          <a:ln w="35560" cap="rnd">
            <a:solidFill>
              <a:srgbClr val="6A1B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-C-P2-2"/>
          <p:cNvCxnSpPr/>
          <p:nvPr/>
        </p:nvCxnSpPr>
        <p:spPr>
          <a:xfrm>
            <a:off x="6121908" y="3639312"/>
            <a:ext cx="0" cy="1307592"/>
          </a:xfrm>
          <a:prstGeom prst="line">
            <a:avLst/>
          </a:prstGeom>
          <a:ln w="35560" cap="rnd">
            <a:solidFill>
              <a:srgbClr val="6A1B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-C-P2-3"/>
          <p:cNvCxnSpPr/>
          <p:nvPr/>
        </p:nvCxnSpPr>
        <p:spPr>
          <a:xfrm>
            <a:off x="6121908" y="4946904"/>
            <a:ext cx="2560320" cy="0"/>
          </a:xfrm>
          <a:prstGeom prst="line">
            <a:avLst/>
          </a:prstGeom>
          <a:ln w="35560" cap="rnd">
            <a:solidFill>
              <a:srgbClr val="6A1B9A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-C-保护-1"/>
          <p:cNvCxnSpPr/>
          <p:nvPr/>
        </p:nvCxnSpPr>
        <p:spPr>
          <a:xfrm>
            <a:off x="9642348" y="4956048"/>
            <a:ext cx="946404" cy="0"/>
          </a:xfrm>
          <a:prstGeom prst="line">
            <a:avLst/>
          </a:prstGeom>
          <a:ln w="35560" cap="rnd">
            <a:solidFill>
              <a:srgbClr val="6A1B9A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5" name="终端-AMR"/>
          <p:cNvGrpSpPr/>
          <p:nvPr/>
        </p:nvGrpSpPr>
        <p:grpSpPr>
          <a:xfrm>
            <a:off x="713231" y="1216152"/>
            <a:ext cx="731520" cy="594360"/>
            <a:chOff x="713231" y="1216152"/>
            <a:chExt cx="731520" cy="594360"/>
          </a:xfrm>
        </p:grpSpPr>
        <p:sp>
          <p:nvSpPr>
            <p:cNvPr id="22" name="AMR-车体"/>
            <p:cNvSpPr/>
            <p:nvPr/>
          </p:nvSpPr>
          <p:spPr>
            <a:xfrm>
              <a:off x="768095" y="1216152"/>
              <a:ext cx="621792" cy="256032"/>
            </a:xfrm>
            <a:prstGeom prst="roundRect">
              <a:avLst>
                <a:gd name="adj" fmla="val 12000"/>
              </a:avLst>
            </a:prstGeom>
            <a:solidFill>
              <a:srgbClr val="F4F6F8"/>
            </a:solidFill>
            <a:ln w="17145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AMR-状态屏"/>
            <p:cNvSpPr/>
            <p:nvPr/>
          </p:nvSpPr>
          <p:spPr>
            <a:xfrm>
              <a:off x="1097280" y="1271016"/>
              <a:ext cx="219456" cy="128016"/>
            </a:xfrm>
            <a:prstGeom prst="rect">
              <a:avLst/>
            </a:prstGeom>
            <a:solidFill>
              <a:srgbClr val="E6EDF5"/>
            </a:solidFill>
            <a:ln w="1143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AMR-灯1"/>
            <p:cNvSpPr/>
            <p:nvPr/>
          </p:nvSpPr>
          <p:spPr>
            <a:xfrm>
              <a:off x="1133856" y="1293876"/>
              <a:ext cx="50292" cy="50292"/>
            </a:xfrm>
            <a:prstGeom prst="ellipse">
              <a:avLst/>
            </a:prstGeom>
            <a:solidFill>
              <a:srgbClr val="2E7D32"/>
            </a:solidFill>
            <a:ln w="508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AMR-灯2"/>
            <p:cNvSpPr/>
            <p:nvPr/>
          </p:nvSpPr>
          <p:spPr>
            <a:xfrm>
              <a:off x="1216151" y="1293876"/>
              <a:ext cx="50292" cy="50292"/>
            </a:xfrm>
            <a:prstGeom prst="ellipse">
              <a:avLst/>
            </a:prstGeom>
            <a:solidFill>
              <a:srgbClr val="C47B00"/>
            </a:solidFill>
            <a:ln w="5080">
              <a:solidFill>
                <a:srgbClr val="C47B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AMR-轮1"/>
            <p:cNvSpPr/>
            <p:nvPr/>
          </p:nvSpPr>
          <p:spPr>
            <a:xfrm>
              <a:off x="896112" y="1444752"/>
              <a:ext cx="146304" cy="91440"/>
            </a:xfrm>
            <a:prstGeom prst="ellipse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AMR-轮2"/>
            <p:cNvSpPr/>
            <p:nvPr/>
          </p:nvSpPr>
          <p:spPr>
            <a:xfrm>
              <a:off x="1188719" y="1444752"/>
              <a:ext cx="146304" cy="91440"/>
            </a:xfrm>
            <a:prstGeom prst="ellipse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AMR-标注"/>
            <p:cNvSpPr txBox="1"/>
            <p:nvPr/>
          </p:nvSpPr>
          <p:spPr>
            <a:xfrm>
              <a:off x="713231" y="1572768"/>
              <a:ext cx="731520" cy="23774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rgbClr val="1C1C1C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AMR</a:t>
              </a:r>
              <a:endParaRPr sz="1100" b="0">
                <a:solidFill>
                  <a:srgbClr val="1C1C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26" name="终端-LiDAR"/>
          <p:cNvGrpSpPr/>
          <p:nvPr/>
        </p:nvGrpSpPr>
        <p:grpSpPr>
          <a:xfrm>
            <a:off x="667512" y="2203703"/>
            <a:ext cx="822960" cy="832105"/>
            <a:chOff x="667512" y="2203703"/>
            <a:chExt cx="822960" cy="832105"/>
          </a:xfrm>
        </p:grpSpPr>
        <p:sp>
          <p:nvSpPr>
            <p:cNvPr id="29" name="LIDAR-座"/>
            <p:cNvSpPr/>
            <p:nvPr/>
          </p:nvSpPr>
          <p:spPr>
            <a:xfrm>
              <a:off x="932688" y="2606040"/>
              <a:ext cx="292608" cy="146304"/>
            </a:xfrm>
            <a:prstGeom prst="rect">
              <a:avLst/>
            </a:prstGeom>
            <a:solidFill>
              <a:srgbClr val="F4F6F8"/>
            </a:solidFill>
            <a:ln w="15875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LIDAR-杆"/>
            <p:cNvSpPr/>
            <p:nvPr/>
          </p:nvSpPr>
          <p:spPr>
            <a:xfrm>
              <a:off x="1046988" y="2450591"/>
              <a:ext cx="64008" cy="164592"/>
            </a:xfrm>
            <a:prstGeom prst="rect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LIDAR-头"/>
            <p:cNvSpPr/>
            <p:nvPr/>
          </p:nvSpPr>
          <p:spPr>
            <a:xfrm>
              <a:off x="960119" y="2304288"/>
              <a:ext cx="237744" cy="164592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LIDAR-扫描1"/>
            <p:cNvCxnSpPr/>
            <p:nvPr/>
          </p:nvCxnSpPr>
          <p:spPr>
            <a:xfrm flipV="1">
              <a:off x="1078992" y="2236777"/>
              <a:ext cx="104895" cy="149807"/>
            </a:xfrm>
            <a:prstGeom prst="line">
              <a:avLst/>
            </a:prstGeom>
            <a:ln w="14604" cap="rnd">
              <a:solidFill>
                <a:srgbClr val="1C1C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LIDAR-扫描2"/>
            <p:cNvCxnSpPr/>
            <p:nvPr/>
          </p:nvCxnSpPr>
          <p:spPr>
            <a:xfrm flipV="1">
              <a:off x="1078992" y="2203703"/>
              <a:ext cx="0" cy="182881"/>
            </a:xfrm>
            <a:prstGeom prst="line">
              <a:avLst/>
            </a:prstGeom>
            <a:ln w="14604" cap="rnd">
              <a:solidFill>
                <a:srgbClr val="1C1C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LIDAR-扫描3"/>
            <p:cNvCxnSpPr/>
            <p:nvPr/>
          </p:nvCxnSpPr>
          <p:spPr>
            <a:xfrm flipH="1" flipV="1">
              <a:off x="974096" y="2236777"/>
              <a:ext cx="104896" cy="149807"/>
            </a:xfrm>
            <a:prstGeom prst="line">
              <a:avLst/>
            </a:prstGeom>
            <a:ln w="14604" cap="rnd">
              <a:solidFill>
                <a:srgbClr val="1C1C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LIDAR-标注"/>
            <p:cNvSpPr txBox="1"/>
            <p:nvPr/>
          </p:nvSpPr>
          <p:spPr>
            <a:xfrm>
              <a:off x="667512" y="2798064"/>
              <a:ext cx="822960" cy="23774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rgbClr val="1C1C1C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LiDAR</a:t>
              </a:r>
              <a:endParaRPr sz="1100" b="0">
                <a:solidFill>
                  <a:srgbClr val="1C1C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27" name="终端-机械臂"/>
          <p:cNvGrpSpPr/>
          <p:nvPr/>
        </p:nvGrpSpPr>
        <p:grpSpPr>
          <a:xfrm>
            <a:off x="667512" y="3863339"/>
            <a:ext cx="822960" cy="891541"/>
            <a:chOff x="667512" y="3863339"/>
            <a:chExt cx="822960" cy="891541"/>
          </a:xfrm>
        </p:grpSpPr>
        <p:sp>
          <p:nvSpPr>
            <p:cNvPr id="36" name="ARM-底座"/>
            <p:cNvSpPr/>
            <p:nvPr/>
          </p:nvSpPr>
          <p:spPr>
            <a:xfrm>
              <a:off x="786383" y="4288536"/>
              <a:ext cx="585216" cy="182880"/>
            </a:xfrm>
            <a:prstGeom prst="rect">
              <a:avLst/>
            </a:prstGeom>
            <a:solidFill>
              <a:srgbClr val="F4F6F8"/>
            </a:solidFill>
            <a:ln w="17145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ARM-立柱"/>
            <p:cNvSpPr/>
            <p:nvPr/>
          </p:nvSpPr>
          <p:spPr>
            <a:xfrm>
              <a:off x="1014983" y="4133088"/>
              <a:ext cx="128016" cy="164592"/>
            </a:xfrm>
            <a:prstGeom prst="rect">
              <a:avLst/>
            </a:prstGeom>
            <a:solidFill>
              <a:srgbClr val="F4F6F8"/>
            </a:solidFill>
            <a:ln w="1524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ARM-肩"/>
            <p:cNvSpPr/>
            <p:nvPr/>
          </p:nvSpPr>
          <p:spPr>
            <a:xfrm>
              <a:off x="996695" y="4041648"/>
              <a:ext cx="164592" cy="164592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ARM-大臂"/>
            <p:cNvCxnSpPr/>
            <p:nvPr/>
          </p:nvCxnSpPr>
          <p:spPr>
            <a:xfrm flipH="1" flipV="1">
              <a:off x="1060704" y="3895344"/>
              <a:ext cx="18288" cy="228600"/>
            </a:xfrm>
            <a:prstGeom prst="line">
              <a:avLst/>
            </a:prstGeom>
            <a:ln w="33020" cap="rnd">
              <a:solidFill>
                <a:srgbClr val="1C1C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ARM-小臂"/>
            <p:cNvCxnSpPr/>
            <p:nvPr/>
          </p:nvCxnSpPr>
          <p:spPr>
            <a:xfrm>
              <a:off x="1060704" y="3895344"/>
              <a:ext cx="182880" cy="109728"/>
            </a:xfrm>
            <a:prstGeom prst="line">
              <a:avLst/>
            </a:prstGeom>
            <a:ln w="30480" cap="rnd">
              <a:solidFill>
                <a:srgbClr val="1C1C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ARM-肘"/>
            <p:cNvSpPr/>
            <p:nvPr/>
          </p:nvSpPr>
          <p:spPr>
            <a:xfrm>
              <a:off x="1028700" y="3863339"/>
              <a:ext cx="64008" cy="64008"/>
            </a:xfrm>
            <a:prstGeom prst="ellipse">
              <a:avLst/>
            </a:prstGeom>
            <a:solidFill>
              <a:srgbClr val="1C1C1C"/>
            </a:solidFill>
            <a:ln w="508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2" name="ARM-爪1"/>
            <p:cNvCxnSpPr/>
            <p:nvPr/>
          </p:nvCxnSpPr>
          <p:spPr>
            <a:xfrm flipH="1" flipV="1">
              <a:off x="1234439" y="3922776"/>
              <a:ext cx="9145" cy="82296"/>
            </a:xfrm>
            <a:prstGeom prst="line">
              <a:avLst/>
            </a:prstGeom>
            <a:ln w="19050" cap="rnd">
              <a:solidFill>
                <a:srgbClr val="1C1C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ARM-爪2"/>
            <p:cNvCxnSpPr/>
            <p:nvPr/>
          </p:nvCxnSpPr>
          <p:spPr>
            <a:xfrm flipV="1">
              <a:off x="1243584" y="3950208"/>
              <a:ext cx="73152" cy="54864"/>
            </a:xfrm>
            <a:prstGeom prst="line">
              <a:avLst/>
            </a:prstGeom>
            <a:ln w="19050" cap="rnd">
              <a:solidFill>
                <a:srgbClr val="1C1C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ARM-标注"/>
            <p:cNvSpPr txBox="1"/>
            <p:nvPr/>
          </p:nvSpPr>
          <p:spPr>
            <a:xfrm>
              <a:off x="667512" y="4517136"/>
              <a:ext cx="822960" cy="23774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rgbClr val="1C1C1C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机械臂</a:t>
              </a:r>
              <a:endParaRPr sz="1100" b="0">
                <a:solidFill>
                  <a:srgbClr val="1C1C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28" name="终端-电机"/>
          <p:cNvGrpSpPr/>
          <p:nvPr/>
        </p:nvGrpSpPr>
        <p:grpSpPr>
          <a:xfrm>
            <a:off x="416051" y="5340096"/>
            <a:ext cx="1325880" cy="713231"/>
            <a:chOff x="416051" y="5340096"/>
            <a:chExt cx="1325880" cy="713231"/>
          </a:xfrm>
        </p:grpSpPr>
        <p:sp>
          <p:nvSpPr>
            <p:cNvPr id="45" name="MOT-座"/>
            <p:cNvSpPr/>
            <p:nvPr/>
          </p:nvSpPr>
          <p:spPr>
            <a:xfrm>
              <a:off x="804671" y="5541264"/>
              <a:ext cx="548640" cy="237744"/>
            </a:xfrm>
            <a:prstGeom prst="rect">
              <a:avLst/>
            </a:prstGeom>
            <a:solidFill>
              <a:srgbClr val="F4F6F8"/>
            </a:solidFill>
            <a:ln w="17145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MOT-定子"/>
            <p:cNvSpPr/>
            <p:nvPr/>
          </p:nvSpPr>
          <p:spPr>
            <a:xfrm>
              <a:off x="960119" y="5340096"/>
              <a:ext cx="237744" cy="237744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MOT-转子"/>
            <p:cNvSpPr/>
            <p:nvPr/>
          </p:nvSpPr>
          <p:spPr>
            <a:xfrm>
              <a:off x="1033271" y="5413248"/>
              <a:ext cx="91440" cy="91440"/>
            </a:xfrm>
            <a:prstGeom prst="ellipse">
              <a:avLst/>
            </a:prstGeom>
            <a:solidFill>
              <a:srgbClr val="1C1C1C"/>
            </a:solidFill>
            <a:ln w="635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MOT-标注"/>
            <p:cNvSpPr txBox="1"/>
            <p:nvPr/>
          </p:nvSpPr>
          <p:spPr>
            <a:xfrm>
              <a:off x="416051" y="5815583"/>
              <a:ext cx="1325880" cy="23774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rgbClr val="1C1C1C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电机控制终端</a:t>
              </a:r>
              <a:endParaRPr sz="1100" b="0">
                <a:solidFill>
                  <a:srgbClr val="1C1C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29" name="终端-制动"/>
          <p:cNvGrpSpPr/>
          <p:nvPr/>
        </p:nvGrpSpPr>
        <p:grpSpPr>
          <a:xfrm>
            <a:off x="10419588" y="978408"/>
            <a:ext cx="1143000" cy="731520"/>
            <a:chOff x="10419588" y="978408"/>
            <a:chExt cx="1143000" cy="731520"/>
          </a:xfrm>
        </p:grpSpPr>
        <p:sp>
          <p:nvSpPr>
            <p:cNvPr id="49" name="BR-机箱"/>
            <p:cNvSpPr/>
            <p:nvPr/>
          </p:nvSpPr>
          <p:spPr>
            <a:xfrm>
              <a:off x="10588752" y="978408"/>
              <a:ext cx="804672" cy="457200"/>
            </a:xfrm>
            <a:prstGeom prst="rect">
              <a:avLst/>
            </a:prstGeom>
            <a:solidFill>
              <a:srgbClr val="F4F6F8"/>
            </a:solidFill>
            <a:ln w="17145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BR-侧条"/>
            <p:cNvSpPr/>
            <p:nvPr/>
          </p:nvSpPr>
          <p:spPr>
            <a:xfrm>
              <a:off x="10588752" y="978408"/>
              <a:ext cx="64008" cy="457200"/>
            </a:xfrm>
            <a:prstGeom prst="rect">
              <a:avLst/>
            </a:prstGeom>
            <a:solidFill>
              <a:srgbClr val="1C1C1C"/>
            </a:solidFill>
            <a:ln w="508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BR-盘"/>
            <p:cNvSpPr/>
            <p:nvPr/>
          </p:nvSpPr>
          <p:spPr>
            <a:xfrm>
              <a:off x="10680192" y="1088136"/>
              <a:ext cx="237744" cy="237744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BR-盘心"/>
            <p:cNvSpPr/>
            <p:nvPr/>
          </p:nvSpPr>
          <p:spPr>
            <a:xfrm>
              <a:off x="10744200" y="1152144"/>
              <a:ext cx="109728" cy="109728"/>
            </a:xfrm>
            <a:prstGeom prst="ellipse">
              <a:avLst/>
            </a:prstGeom>
            <a:solidFill>
              <a:srgbClr val="F4F6F8"/>
            </a:solidFill>
            <a:ln w="1270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BR-卡钳"/>
            <p:cNvSpPr/>
            <p:nvPr/>
          </p:nvSpPr>
          <p:spPr>
            <a:xfrm>
              <a:off x="10753344" y="1060704"/>
              <a:ext cx="91440" cy="64008"/>
            </a:xfrm>
            <a:prstGeom prst="rect">
              <a:avLst/>
            </a:prstGeom>
            <a:solidFill>
              <a:srgbClr val="1C1C1C"/>
            </a:solidFill>
            <a:ln w="508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BR-槽1"/>
            <p:cNvSpPr/>
            <p:nvPr/>
          </p:nvSpPr>
          <p:spPr>
            <a:xfrm>
              <a:off x="10972800" y="1097280"/>
              <a:ext cx="292608" cy="32004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BR-槽2"/>
            <p:cNvSpPr/>
            <p:nvPr/>
          </p:nvSpPr>
          <p:spPr>
            <a:xfrm>
              <a:off x="10972800" y="1188720"/>
              <a:ext cx="292608" cy="32004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BR-槽3"/>
            <p:cNvSpPr/>
            <p:nvPr/>
          </p:nvSpPr>
          <p:spPr>
            <a:xfrm>
              <a:off x="10972800" y="1280160"/>
              <a:ext cx="292608" cy="32004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BR-标注"/>
            <p:cNvSpPr txBox="1"/>
            <p:nvPr/>
          </p:nvSpPr>
          <p:spPr>
            <a:xfrm>
              <a:off x="10419588" y="1472184"/>
              <a:ext cx="1143000" cy="23774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rgbClr val="1C1C1C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制动控制器</a:t>
              </a:r>
              <a:endParaRPr sz="1100" b="0">
                <a:solidFill>
                  <a:srgbClr val="1C1C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30" name="终端-协作"/>
          <p:cNvGrpSpPr/>
          <p:nvPr/>
        </p:nvGrpSpPr>
        <p:grpSpPr>
          <a:xfrm>
            <a:off x="10419588" y="2496312"/>
            <a:ext cx="1143000" cy="731520"/>
            <a:chOff x="10419588" y="2496312"/>
            <a:chExt cx="1143000" cy="731520"/>
          </a:xfrm>
        </p:grpSpPr>
        <p:sp>
          <p:nvSpPr>
            <p:cNvPr id="58" name="CO-机箱"/>
            <p:cNvSpPr/>
            <p:nvPr/>
          </p:nvSpPr>
          <p:spPr>
            <a:xfrm>
              <a:off x="10588752" y="2496312"/>
              <a:ext cx="804672" cy="457200"/>
            </a:xfrm>
            <a:prstGeom prst="rect">
              <a:avLst/>
            </a:prstGeom>
            <a:solidFill>
              <a:srgbClr val="F4F6F8"/>
            </a:solidFill>
            <a:ln w="17145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CO-侧条"/>
            <p:cNvSpPr/>
            <p:nvPr/>
          </p:nvSpPr>
          <p:spPr>
            <a:xfrm>
              <a:off x="10588752" y="2496312"/>
              <a:ext cx="64008" cy="457200"/>
            </a:xfrm>
            <a:prstGeom prst="rect">
              <a:avLst/>
            </a:prstGeom>
            <a:solidFill>
              <a:srgbClr val="1C1C1C"/>
            </a:solidFill>
            <a:ln w="508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CO-端1"/>
            <p:cNvSpPr/>
            <p:nvPr/>
          </p:nvSpPr>
          <p:spPr>
            <a:xfrm>
              <a:off x="10680192" y="2651760"/>
              <a:ext cx="128016" cy="128016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CO-端2"/>
            <p:cNvSpPr/>
            <p:nvPr/>
          </p:nvSpPr>
          <p:spPr>
            <a:xfrm>
              <a:off x="10844784" y="2651760"/>
              <a:ext cx="128016" cy="128016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CO-连"/>
            <p:cNvCxnSpPr/>
            <p:nvPr/>
          </p:nvCxnSpPr>
          <p:spPr>
            <a:xfrm>
              <a:off x="10808208" y="2715768"/>
              <a:ext cx="36576" cy="0"/>
            </a:xfrm>
            <a:prstGeom prst="line">
              <a:avLst/>
            </a:prstGeom>
            <a:ln w="15875" cap="rnd">
              <a:solidFill>
                <a:srgbClr val="1C1C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CO-槽1"/>
            <p:cNvSpPr/>
            <p:nvPr/>
          </p:nvSpPr>
          <p:spPr>
            <a:xfrm>
              <a:off x="11009376" y="2615184"/>
              <a:ext cx="274320" cy="32004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CO-槽2"/>
            <p:cNvSpPr/>
            <p:nvPr/>
          </p:nvSpPr>
          <p:spPr>
            <a:xfrm>
              <a:off x="11009376" y="2706624"/>
              <a:ext cx="274320" cy="32004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CO-槽3"/>
            <p:cNvSpPr/>
            <p:nvPr/>
          </p:nvSpPr>
          <p:spPr>
            <a:xfrm>
              <a:off x="11009376" y="2798064"/>
              <a:ext cx="274320" cy="32004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CO-标注"/>
            <p:cNvSpPr txBox="1"/>
            <p:nvPr/>
          </p:nvSpPr>
          <p:spPr>
            <a:xfrm>
              <a:off x="10419588" y="2990088"/>
              <a:ext cx="1143000" cy="23774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rgbClr val="1C1C1C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协作控制器</a:t>
              </a:r>
              <a:endParaRPr sz="1100" b="0">
                <a:solidFill>
                  <a:srgbClr val="1C1C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31" name="终端-保护"/>
          <p:cNvGrpSpPr/>
          <p:nvPr/>
        </p:nvGrpSpPr>
        <p:grpSpPr>
          <a:xfrm>
            <a:off x="10282428" y="4782312"/>
            <a:ext cx="1417320" cy="731520"/>
            <a:chOff x="10282428" y="4782312"/>
            <a:chExt cx="1417320" cy="731520"/>
          </a:xfrm>
        </p:grpSpPr>
        <p:sp>
          <p:nvSpPr>
            <p:cNvPr id="67" name="PR-机箱"/>
            <p:cNvSpPr/>
            <p:nvPr/>
          </p:nvSpPr>
          <p:spPr>
            <a:xfrm>
              <a:off x="10588752" y="4782312"/>
              <a:ext cx="804672" cy="457200"/>
            </a:xfrm>
            <a:prstGeom prst="rect">
              <a:avLst/>
            </a:prstGeom>
            <a:solidFill>
              <a:srgbClr val="F4F6F8"/>
            </a:solidFill>
            <a:ln w="17145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PR-侧条"/>
            <p:cNvSpPr/>
            <p:nvPr/>
          </p:nvSpPr>
          <p:spPr>
            <a:xfrm>
              <a:off x="10588752" y="4782312"/>
              <a:ext cx="64008" cy="457200"/>
            </a:xfrm>
            <a:prstGeom prst="rect">
              <a:avLst/>
            </a:prstGeom>
            <a:solidFill>
              <a:srgbClr val="1C1C1C"/>
            </a:solidFill>
            <a:ln w="508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PR-盾"/>
            <p:cNvSpPr/>
            <p:nvPr/>
          </p:nvSpPr>
          <p:spPr>
            <a:xfrm>
              <a:off x="10661904" y="4864608"/>
              <a:ext cx="256032" cy="292608"/>
            </a:xfrm>
            <a:custGeom>
              <a:avLst/>
              <a:gdLst/>
              <a:ahLst/>
              <a:cxnLst/>
              <a:rect l="l" t="t" r="r" b="b"/>
              <a:pathLst>
                <a:path w="256032" h="292608">
                  <a:moveTo>
                    <a:pt x="128015" y="0"/>
                  </a:moveTo>
                  <a:lnTo>
                    <a:pt x="256032" y="36576"/>
                  </a:lnTo>
                  <a:lnTo>
                    <a:pt x="256032" y="164592"/>
                  </a:lnTo>
                  <a:lnTo>
                    <a:pt x="128015" y="292608"/>
                  </a:lnTo>
                  <a:lnTo>
                    <a:pt x="0" y="164592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PR-槽1"/>
            <p:cNvSpPr/>
            <p:nvPr/>
          </p:nvSpPr>
          <p:spPr>
            <a:xfrm>
              <a:off x="10972800" y="4901184"/>
              <a:ext cx="292608" cy="32004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PR-槽2"/>
            <p:cNvSpPr/>
            <p:nvPr/>
          </p:nvSpPr>
          <p:spPr>
            <a:xfrm>
              <a:off x="10972800" y="4992624"/>
              <a:ext cx="292608" cy="32004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R-槽3"/>
            <p:cNvSpPr/>
            <p:nvPr/>
          </p:nvSpPr>
          <p:spPr>
            <a:xfrm>
              <a:off x="10972800" y="5084064"/>
              <a:ext cx="292608" cy="32004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PR-标注"/>
            <p:cNvSpPr txBox="1"/>
            <p:nvPr/>
          </p:nvSpPr>
          <p:spPr>
            <a:xfrm>
              <a:off x="10282428" y="5276088"/>
              <a:ext cx="1417320" cy="23774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rgbClr val="1C1C1C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设备保护控制器</a:t>
              </a:r>
              <a:endParaRPr sz="1100" b="0">
                <a:solidFill>
                  <a:srgbClr val="1C1C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32" name="交换机-S3"/>
          <p:cNvGrpSpPr/>
          <p:nvPr/>
        </p:nvGrpSpPr>
        <p:grpSpPr>
          <a:xfrm>
            <a:off x="2286000" y="1682496"/>
            <a:ext cx="1426464" cy="1005840"/>
            <a:chOff x="2286000" y="1682496"/>
            <a:chExt cx="1426464" cy="1005840"/>
          </a:xfrm>
        </p:grpSpPr>
        <p:sp>
          <p:nvSpPr>
            <p:cNvPr id="4" name="S3-框"/>
            <p:cNvSpPr/>
            <p:nvPr/>
          </p:nvSpPr>
          <p:spPr>
            <a:xfrm>
              <a:off x="2519172" y="1682496"/>
              <a:ext cx="960120" cy="621792"/>
            </a:xfrm>
            <a:prstGeom prst="rect">
              <a:avLst/>
            </a:prstGeom>
            <a:solidFill>
              <a:srgbClr val="FFFFFF"/>
            </a:solidFill>
            <a:ln w="203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3-箭头1"/>
            <p:cNvSpPr/>
            <p:nvPr/>
          </p:nvSpPr>
          <p:spPr>
            <a:xfrm>
              <a:off x="2770632" y="1865376"/>
              <a:ext cx="457200" cy="100584"/>
            </a:xfrm>
            <a:prstGeom prst="leftRightArrow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3-箭头2"/>
            <p:cNvSpPr/>
            <p:nvPr/>
          </p:nvSpPr>
          <p:spPr>
            <a:xfrm>
              <a:off x="2770632" y="2020824"/>
              <a:ext cx="457200" cy="100584"/>
            </a:xfrm>
            <a:prstGeom prst="leftRightArrow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S3-标注"/>
            <p:cNvSpPr txBox="1"/>
            <p:nvPr/>
          </p:nvSpPr>
          <p:spPr>
            <a:xfrm>
              <a:off x="2286000" y="2322576"/>
              <a:ext cx="1426464" cy="36576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1C1C1C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S3</a:t>
              </a:r>
              <a:endParaRPr sz="1300" b="1">
                <a:solidFill>
                  <a:srgbClr val="1C1C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>
                  <a:solidFill>
                    <a:srgbClr val="4A4A4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移动机器人接入</a:t>
              </a:r>
              <a:endParaRPr sz="1000" b="0">
                <a:solidFill>
                  <a:srgbClr val="4A4A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33" name="交换机-S4"/>
          <p:cNvGrpSpPr/>
          <p:nvPr/>
        </p:nvGrpSpPr>
        <p:grpSpPr>
          <a:xfrm>
            <a:off x="2286000" y="4700016"/>
            <a:ext cx="1426464" cy="1005840"/>
            <a:chOff x="2286000" y="4700016"/>
            <a:chExt cx="1426464" cy="1005840"/>
          </a:xfrm>
        </p:grpSpPr>
        <p:sp>
          <p:nvSpPr>
            <p:cNvPr id="8" name="S4-框"/>
            <p:cNvSpPr/>
            <p:nvPr/>
          </p:nvSpPr>
          <p:spPr>
            <a:xfrm>
              <a:off x="2519172" y="4700016"/>
              <a:ext cx="960120" cy="621792"/>
            </a:xfrm>
            <a:prstGeom prst="rect">
              <a:avLst/>
            </a:prstGeom>
            <a:solidFill>
              <a:srgbClr val="FFFFFF"/>
            </a:solidFill>
            <a:ln w="203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S4-箭头1"/>
            <p:cNvSpPr/>
            <p:nvPr/>
          </p:nvSpPr>
          <p:spPr>
            <a:xfrm>
              <a:off x="2770632" y="4882896"/>
              <a:ext cx="457200" cy="100584"/>
            </a:xfrm>
            <a:prstGeom prst="leftRightArrow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S4-箭头2"/>
            <p:cNvSpPr/>
            <p:nvPr/>
          </p:nvSpPr>
          <p:spPr>
            <a:xfrm>
              <a:off x="2770632" y="5038344"/>
              <a:ext cx="457200" cy="100584"/>
            </a:xfrm>
            <a:prstGeom prst="leftRightArrow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4-标注"/>
            <p:cNvSpPr txBox="1"/>
            <p:nvPr/>
          </p:nvSpPr>
          <p:spPr>
            <a:xfrm>
              <a:off x="2304288" y="5340096"/>
              <a:ext cx="1298448" cy="36576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1C1C1C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S4</a:t>
              </a:r>
              <a:endParaRPr sz="1300" b="1">
                <a:solidFill>
                  <a:srgbClr val="1C1C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>
                  <a:solidFill>
                    <a:srgbClr val="4A4A4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作业设备接入</a:t>
              </a:r>
              <a:endParaRPr sz="1000" b="0">
                <a:solidFill>
                  <a:srgbClr val="4A4A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34" name="交换机-S0"/>
          <p:cNvGrpSpPr/>
          <p:nvPr/>
        </p:nvGrpSpPr>
        <p:grpSpPr>
          <a:xfrm>
            <a:off x="4608576" y="2871216"/>
            <a:ext cx="1426464" cy="1005840"/>
            <a:chOff x="4608576" y="2871216"/>
            <a:chExt cx="1426464" cy="1005840"/>
          </a:xfrm>
        </p:grpSpPr>
        <p:sp>
          <p:nvSpPr>
            <p:cNvPr id="12" name="S0-框"/>
            <p:cNvSpPr/>
            <p:nvPr/>
          </p:nvSpPr>
          <p:spPr>
            <a:xfrm>
              <a:off x="4841748" y="3255264"/>
              <a:ext cx="960120" cy="621792"/>
            </a:xfrm>
            <a:prstGeom prst="rect">
              <a:avLst/>
            </a:prstGeom>
            <a:solidFill>
              <a:srgbClr val="FFFFFF"/>
            </a:solidFill>
            <a:ln w="203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S0-箭头1"/>
            <p:cNvSpPr/>
            <p:nvPr/>
          </p:nvSpPr>
          <p:spPr>
            <a:xfrm>
              <a:off x="5093208" y="3438144"/>
              <a:ext cx="457200" cy="100584"/>
            </a:xfrm>
            <a:prstGeom prst="leftRightArrow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S0-箭头2"/>
            <p:cNvSpPr/>
            <p:nvPr/>
          </p:nvSpPr>
          <p:spPr>
            <a:xfrm>
              <a:off x="5093208" y="3593592"/>
              <a:ext cx="457200" cy="100584"/>
            </a:xfrm>
            <a:prstGeom prst="leftRightArrow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S0-标注"/>
            <p:cNvSpPr txBox="1"/>
            <p:nvPr/>
          </p:nvSpPr>
          <p:spPr>
            <a:xfrm>
              <a:off x="4608576" y="2871216"/>
              <a:ext cx="1426464" cy="36576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1C1C1C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S0</a:t>
              </a:r>
              <a:endParaRPr sz="1300" b="1">
                <a:solidFill>
                  <a:srgbClr val="1C1C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>
                  <a:solidFill>
                    <a:srgbClr val="4A4A4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核心汇聚交换机</a:t>
              </a:r>
              <a:endParaRPr sz="1000" b="0">
                <a:solidFill>
                  <a:srgbClr val="4A4A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35" name="交换机-S1"/>
          <p:cNvGrpSpPr/>
          <p:nvPr/>
        </p:nvGrpSpPr>
        <p:grpSpPr>
          <a:xfrm>
            <a:off x="8449056" y="1682496"/>
            <a:ext cx="1426464" cy="1005840"/>
            <a:chOff x="8449056" y="1682496"/>
            <a:chExt cx="1426464" cy="1005840"/>
          </a:xfrm>
        </p:grpSpPr>
        <p:sp>
          <p:nvSpPr>
            <p:cNvPr id="16" name="S1-框"/>
            <p:cNvSpPr/>
            <p:nvPr/>
          </p:nvSpPr>
          <p:spPr>
            <a:xfrm>
              <a:off x="8682228" y="1682496"/>
              <a:ext cx="960120" cy="621792"/>
            </a:xfrm>
            <a:prstGeom prst="rect">
              <a:avLst/>
            </a:prstGeom>
            <a:solidFill>
              <a:srgbClr val="FFFFFF"/>
            </a:solidFill>
            <a:ln w="203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1-箭头1"/>
            <p:cNvSpPr/>
            <p:nvPr/>
          </p:nvSpPr>
          <p:spPr>
            <a:xfrm>
              <a:off x="8933688" y="1865376"/>
              <a:ext cx="457200" cy="100584"/>
            </a:xfrm>
            <a:prstGeom prst="leftRightArrow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1-箭头2"/>
            <p:cNvSpPr/>
            <p:nvPr/>
          </p:nvSpPr>
          <p:spPr>
            <a:xfrm>
              <a:off x="8933688" y="2020824"/>
              <a:ext cx="457200" cy="100584"/>
            </a:xfrm>
            <a:prstGeom prst="leftRightArrow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1-标注"/>
            <p:cNvSpPr txBox="1"/>
            <p:nvPr/>
          </p:nvSpPr>
          <p:spPr>
            <a:xfrm>
              <a:off x="8449056" y="2322576"/>
              <a:ext cx="1426464" cy="36576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1C1C1C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S1</a:t>
              </a:r>
              <a:endParaRPr sz="1300" b="1">
                <a:solidFill>
                  <a:srgbClr val="1C1C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>
                  <a:solidFill>
                    <a:srgbClr val="4A4A4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安全控制接入</a:t>
              </a:r>
              <a:endParaRPr sz="1000" b="0">
                <a:solidFill>
                  <a:srgbClr val="4A4A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36" name="交换机-S2"/>
          <p:cNvGrpSpPr/>
          <p:nvPr/>
        </p:nvGrpSpPr>
        <p:grpSpPr>
          <a:xfrm>
            <a:off x="8449056" y="4700016"/>
            <a:ext cx="1426464" cy="1005840"/>
            <a:chOff x="8449056" y="4700016"/>
            <a:chExt cx="1426464" cy="1005840"/>
          </a:xfrm>
        </p:grpSpPr>
        <p:sp>
          <p:nvSpPr>
            <p:cNvPr id="20" name="S2-框"/>
            <p:cNvSpPr/>
            <p:nvPr/>
          </p:nvSpPr>
          <p:spPr>
            <a:xfrm>
              <a:off x="8682228" y="4700016"/>
              <a:ext cx="960120" cy="621792"/>
            </a:xfrm>
            <a:prstGeom prst="rect">
              <a:avLst/>
            </a:prstGeom>
            <a:solidFill>
              <a:srgbClr val="FFFFFF"/>
            </a:solidFill>
            <a:ln w="203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S2-箭头1"/>
            <p:cNvSpPr/>
            <p:nvPr/>
          </p:nvSpPr>
          <p:spPr>
            <a:xfrm>
              <a:off x="8933688" y="4882896"/>
              <a:ext cx="457200" cy="100584"/>
            </a:xfrm>
            <a:prstGeom prst="leftRightArrow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S2-箭头2"/>
            <p:cNvSpPr/>
            <p:nvPr/>
          </p:nvSpPr>
          <p:spPr>
            <a:xfrm>
              <a:off x="8933688" y="5038344"/>
              <a:ext cx="457200" cy="100584"/>
            </a:xfrm>
            <a:prstGeom prst="leftRightArrow">
              <a:avLst/>
            </a:prstGeom>
            <a:solidFill>
              <a:srgbClr val="1C1C1C"/>
            </a:solidFill>
            <a:ln w="762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S2-标注"/>
            <p:cNvSpPr txBox="1"/>
            <p:nvPr/>
          </p:nvSpPr>
          <p:spPr>
            <a:xfrm>
              <a:off x="8595360" y="5340096"/>
              <a:ext cx="1133856" cy="36576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1C1C1C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S2</a:t>
              </a:r>
              <a:endParaRPr sz="1300" b="1">
                <a:solidFill>
                  <a:srgbClr val="1C1C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>
                  <a:solidFill>
                    <a:srgbClr val="4A4A4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设备保护接入</a:t>
              </a:r>
              <a:endParaRPr sz="1000" b="0">
                <a:solidFill>
                  <a:srgbClr val="4A4A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141" name="标注-P1"/>
          <p:cNvSpPr txBox="1"/>
          <p:nvPr/>
        </p:nvSpPr>
        <p:spPr>
          <a:xfrm>
            <a:off x="6236208" y="2450592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000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P1 (e01)</a:t>
            </a:r>
          </a:p>
        </p:txBody>
      </p:sp>
      <p:sp>
        <p:nvSpPr>
          <p:cNvPr id="142" name="标注-P2"/>
          <p:cNvSpPr txBox="1"/>
          <p:nvPr/>
        </p:nvSpPr>
        <p:spPr>
          <a:xfrm>
            <a:off x="6172200" y="4352544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000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P2 (e02)</a:t>
            </a:r>
          </a:p>
        </p:txBody>
      </p:sp>
      <p:sp>
        <p:nvSpPr>
          <p:cNvPr id="143" name="标注-STA"/>
          <p:cNvSpPr txBox="1"/>
          <p:nvPr/>
        </p:nvSpPr>
        <p:spPr>
          <a:xfrm>
            <a:off x="1353312" y="969264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000" b="1">
                <a:solidFill>
                  <a:srgbClr val="C62828"/>
                </a:solidFill>
                <a:latin typeface="PingFang SC"/>
                <a:ea typeface="PingFang SC"/>
                <a:cs typeface="PingFang SC"/>
              </a:rPr>
              <a:t>ST-A + A前兆</a:t>
            </a:r>
          </a:p>
        </p:txBody>
      </p:sp>
      <p:sp>
        <p:nvSpPr>
          <p:cNvPr id="144" name="标注-STB"/>
          <p:cNvSpPr txBox="1"/>
          <p:nvPr/>
        </p:nvSpPr>
        <p:spPr>
          <a:xfrm>
            <a:off x="1371600" y="400507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000" b="1">
                <a:solidFill>
                  <a:srgbClr val="1565C0"/>
                </a:solidFill>
                <a:latin typeface="PingFang SC"/>
                <a:ea typeface="PingFang SC"/>
                <a:cs typeface="PingFang SC"/>
              </a:rPr>
              <a:t>ST-B + B前兆</a:t>
            </a:r>
          </a:p>
        </p:txBody>
      </p:sp>
      <p:sp>
        <p:nvSpPr>
          <p:cNvPr id="145" name="标注-STC"/>
          <p:cNvSpPr txBox="1"/>
          <p:nvPr/>
        </p:nvSpPr>
        <p:spPr>
          <a:xfrm>
            <a:off x="1554480" y="5614416"/>
            <a:ext cx="10515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000" b="1">
                <a:solidFill>
                  <a:srgbClr val="6A1B9A"/>
                </a:solidFill>
                <a:latin typeface="PingFang SC"/>
                <a:ea typeface="PingFang SC"/>
                <a:cs typeface="PingFang SC"/>
              </a:rPr>
              <a:t>ST-C + C前兆</a:t>
            </a:r>
          </a:p>
        </p:txBody>
      </p:sp>
      <p:sp>
        <p:nvSpPr>
          <p:cNvPr id="153" name="标题"/>
          <p:cNvSpPr txBox="1"/>
          <p:nvPr/>
        </p:nvSpPr>
        <p:spPr>
          <a:xfrm>
            <a:off x="329184" y="91440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90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网络拓扑与四个受控出口</a:t>
            </a:r>
          </a:p>
        </p:txBody>
      </p:sp>
      <p:cxnSp>
        <p:nvCxnSpPr>
          <p:cNvPr id="154" name="页脚线"/>
          <p:cNvCxnSpPr/>
          <p:nvPr/>
        </p:nvCxnSpPr>
        <p:spPr>
          <a:xfrm>
            <a:off x="329184" y="6327648"/>
            <a:ext cx="11521440" cy="0"/>
          </a:xfrm>
          <a:prstGeom prst="line">
            <a:avLst/>
          </a:prstGeom>
          <a:ln w="9525" cap="rnd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页脚"/>
          <p:cNvSpPr txBox="1"/>
          <p:nvPr/>
        </p:nvSpPr>
        <p:spPr>
          <a:xfrm>
            <a:off x="329184" y="6364224"/>
            <a:ext cx="1152144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19" b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1. 固定路由与局部可见性边界：路径仅决定流经过哪些交换机，不参与相关性学习；每个受控出口 e ∈ {e3u, e4u, e01, e02} 严格只使用物理流经本出口的普通包事件 X_e ⊆ O_e。</a:t>
            </a:r>
            <a:endParaRPr sz="1200" b="0">
              <a:solidFill>
                <a:srgbClr val="4A4A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r>
              <a:rPr sz="919" b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2. 单出口预测与本地提案：每个出口仅预测将到达本出口队列的 ST 组 g ∈ G_e^pred 的到达时间分布，并在本地提出 TT 整表布局并经联合准入执行；S1/S2 末端跳保持固定基准。</a:t>
            </a:r>
          </a:p>
        </p:txBody>
      </p:sp>
      <p:cxnSp>
        <p:nvCxnSpPr>
          <p:cNvPr id="156" name="前兆-A-AMR接入"/>
          <p:cNvCxnSpPr/>
          <p:nvPr/>
        </p:nvCxnSpPr>
        <p:spPr>
          <a:xfrm>
            <a:off x="1389888" y="1389888"/>
            <a:ext cx="1124712" cy="521207"/>
          </a:xfrm>
          <a:prstGeom prst="line">
            <a:avLst/>
          </a:prstGeom>
          <a:ln w="15240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前兆-A-LiDAR接入"/>
          <p:cNvCxnSpPr/>
          <p:nvPr/>
        </p:nvCxnSpPr>
        <p:spPr>
          <a:xfrm flipV="1">
            <a:off x="1225296" y="2066543"/>
            <a:ext cx="1289304" cy="521209"/>
          </a:xfrm>
          <a:prstGeom prst="line">
            <a:avLst/>
          </a:prstGeom>
          <a:ln w="15240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前兆-A-上行-1"/>
          <p:cNvCxnSpPr/>
          <p:nvPr/>
        </p:nvCxnSpPr>
        <p:spPr>
          <a:xfrm>
            <a:off x="3474720" y="2057400"/>
            <a:ext cx="621792" cy="0"/>
          </a:xfrm>
          <a:prstGeom prst="line">
            <a:avLst/>
          </a:prstGeom>
          <a:ln w="15240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前兆-A-上行-2"/>
          <p:cNvCxnSpPr/>
          <p:nvPr/>
        </p:nvCxnSpPr>
        <p:spPr>
          <a:xfrm>
            <a:off x="4096512" y="2057400"/>
            <a:ext cx="0" cy="1426464"/>
          </a:xfrm>
          <a:prstGeom prst="line">
            <a:avLst/>
          </a:prstGeom>
          <a:ln w="15240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前兆-A-上行-3"/>
          <p:cNvCxnSpPr/>
          <p:nvPr/>
        </p:nvCxnSpPr>
        <p:spPr>
          <a:xfrm>
            <a:off x="4096512" y="3483864"/>
            <a:ext cx="740664" cy="0"/>
          </a:xfrm>
          <a:prstGeom prst="line">
            <a:avLst/>
          </a:prstGeom>
          <a:ln w="15240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前兆-A-P1-1"/>
          <p:cNvCxnSpPr/>
          <p:nvPr/>
        </p:nvCxnSpPr>
        <p:spPr>
          <a:xfrm>
            <a:off x="5797296" y="3300984"/>
            <a:ext cx="128016" cy="0"/>
          </a:xfrm>
          <a:prstGeom prst="line">
            <a:avLst/>
          </a:prstGeom>
          <a:ln w="15240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前兆-A-P1-2"/>
          <p:cNvCxnSpPr/>
          <p:nvPr/>
        </p:nvCxnSpPr>
        <p:spPr>
          <a:xfrm flipV="1">
            <a:off x="5925312" y="1856231"/>
            <a:ext cx="0" cy="1444753"/>
          </a:xfrm>
          <a:prstGeom prst="line">
            <a:avLst/>
          </a:prstGeom>
          <a:ln w="15240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前兆-A-P1-3"/>
          <p:cNvCxnSpPr/>
          <p:nvPr/>
        </p:nvCxnSpPr>
        <p:spPr>
          <a:xfrm>
            <a:off x="5925312" y="1856231"/>
            <a:ext cx="2752344" cy="0"/>
          </a:xfrm>
          <a:prstGeom prst="line">
            <a:avLst/>
          </a:prstGeom>
          <a:ln w="15240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前兆-B-接入-1"/>
          <p:cNvCxnSpPr/>
          <p:nvPr/>
        </p:nvCxnSpPr>
        <p:spPr>
          <a:xfrm>
            <a:off x="1371600" y="4425696"/>
            <a:ext cx="1143000" cy="502920"/>
          </a:xfrm>
          <a:prstGeom prst="line">
            <a:avLst/>
          </a:prstGeom>
          <a:ln w="15240">
            <a:solidFill>
              <a:srgbClr val="1565C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前兆-B-上行-1"/>
          <p:cNvCxnSpPr/>
          <p:nvPr/>
        </p:nvCxnSpPr>
        <p:spPr>
          <a:xfrm>
            <a:off x="3474720" y="4882896"/>
            <a:ext cx="832104" cy="0"/>
          </a:xfrm>
          <a:prstGeom prst="line">
            <a:avLst/>
          </a:prstGeom>
          <a:ln w="15240">
            <a:solidFill>
              <a:srgbClr val="1565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前兆-B-上行-2"/>
          <p:cNvCxnSpPr/>
          <p:nvPr/>
        </p:nvCxnSpPr>
        <p:spPr>
          <a:xfrm flipV="1">
            <a:off x="4306824" y="3575304"/>
            <a:ext cx="0" cy="1307592"/>
          </a:xfrm>
          <a:prstGeom prst="line">
            <a:avLst/>
          </a:prstGeom>
          <a:ln w="15240">
            <a:solidFill>
              <a:srgbClr val="1565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前兆-B-上行-3"/>
          <p:cNvCxnSpPr/>
          <p:nvPr/>
        </p:nvCxnSpPr>
        <p:spPr>
          <a:xfrm>
            <a:off x="4306824" y="3575304"/>
            <a:ext cx="530352" cy="0"/>
          </a:xfrm>
          <a:prstGeom prst="line">
            <a:avLst/>
          </a:prstGeom>
          <a:ln w="15240">
            <a:solidFill>
              <a:srgbClr val="1565C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前兆-B-P1-1"/>
          <p:cNvCxnSpPr/>
          <p:nvPr/>
        </p:nvCxnSpPr>
        <p:spPr>
          <a:xfrm>
            <a:off x="5797296" y="3557016"/>
            <a:ext cx="393192" cy="0"/>
          </a:xfrm>
          <a:prstGeom prst="line">
            <a:avLst/>
          </a:prstGeom>
          <a:ln w="15240">
            <a:solidFill>
              <a:srgbClr val="1565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前兆-B-P1-2"/>
          <p:cNvCxnSpPr/>
          <p:nvPr/>
        </p:nvCxnSpPr>
        <p:spPr>
          <a:xfrm flipV="1">
            <a:off x="6190488" y="2121408"/>
            <a:ext cx="0" cy="1435608"/>
          </a:xfrm>
          <a:prstGeom prst="line">
            <a:avLst/>
          </a:prstGeom>
          <a:ln w="15240">
            <a:solidFill>
              <a:srgbClr val="1565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前兆-B-P1-3"/>
          <p:cNvCxnSpPr/>
          <p:nvPr/>
        </p:nvCxnSpPr>
        <p:spPr>
          <a:xfrm>
            <a:off x="6190488" y="2121408"/>
            <a:ext cx="2487168" cy="0"/>
          </a:xfrm>
          <a:prstGeom prst="line">
            <a:avLst/>
          </a:prstGeom>
          <a:ln w="15240">
            <a:solidFill>
              <a:srgbClr val="1565C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前兆-C-接入-1"/>
          <p:cNvCxnSpPr/>
          <p:nvPr/>
        </p:nvCxnSpPr>
        <p:spPr>
          <a:xfrm flipV="1">
            <a:off x="1353312" y="5093208"/>
            <a:ext cx="1161288" cy="502920"/>
          </a:xfrm>
          <a:prstGeom prst="line">
            <a:avLst/>
          </a:prstGeom>
          <a:ln w="15240">
            <a:solidFill>
              <a:srgbClr val="6A1B9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前兆-C-上行-1"/>
          <p:cNvCxnSpPr/>
          <p:nvPr/>
        </p:nvCxnSpPr>
        <p:spPr>
          <a:xfrm>
            <a:off x="3474720" y="5138928"/>
            <a:ext cx="1088136" cy="0"/>
          </a:xfrm>
          <a:prstGeom prst="line">
            <a:avLst/>
          </a:prstGeom>
          <a:ln w="15240">
            <a:solidFill>
              <a:srgbClr val="6A1B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前兆-C-上行-2"/>
          <p:cNvCxnSpPr/>
          <p:nvPr/>
        </p:nvCxnSpPr>
        <p:spPr>
          <a:xfrm flipV="1">
            <a:off x="4562856" y="3831336"/>
            <a:ext cx="0" cy="1307592"/>
          </a:xfrm>
          <a:prstGeom prst="line">
            <a:avLst/>
          </a:prstGeom>
          <a:ln w="15240">
            <a:solidFill>
              <a:srgbClr val="6A1B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前兆-C-上行-3"/>
          <p:cNvCxnSpPr/>
          <p:nvPr/>
        </p:nvCxnSpPr>
        <p:spPr>
          <a:xfrm>
            <a:off x="4562856" y="3831336"/>
            <a:ext cx="274320" cy="0"/>
          </a:xfrm>
          <a:prstGeom prst="line">
            <a:avLst/>
          </a:prstGeom>
          <a:ln w="15240">
            <a:solidFill>
              <a:srgbClr val="6A1B9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前兆-C-P2-1"/>
          <p:cNvCxnSpPr/>
          <p:nvPr/>
        </p:nvCxnSpPr>
        <p:spPr>
          <a:xfrm>
            <a:off x="5797296" y="3767328"/>
            <a:ext cx="192024" cy="0"/>
          </a:xfrm>
          <a:prstGeom prst="line">
            <a:avLst/>
          </a:prstGeom>
          <a:ln w="15240">
            <a:solidFill>
              <a:srgbClr val="6A1B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前兆-C-P2-2"/>
          <p:cNvCxnSpPr/>
          <p:nvPr/>
        </p:nvCxnSpPr>
        <p:spPr>
          <a:xfrm>
            <a:off x="5989320" y="3767328"/>
            <a:ext cx="0" cy="1307592"/>
          </a:xfrm>
          <a:prstGeom prst="line">
            <a:avLst/>
          </a:prstGeom>
          <a:ln w="15240">
            <a:solidFill>
              <a:srgbClr val="6A1B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前兆-C-P2-3"/>
          <p:cNvCxnSpPr/>
          <p:nvPr/>
        </p:nvCxnSpPr>
        <p:spPr>
          <a:xfrm>
            <a:off x="5989320" y="5074920"/>
            <a:ext cx="2688336" cy="0"/>
          </a:xfrm>
          <a:prstGeom prst="line">
            <a:avLst/>
          </a:prstGeom>
          <a:ln w="15240">
            <a:solidFill>
              <a:srgbClr val="6A1B9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Badge-LiDAR前兆"/>
          <p:cNvSpPr txBox="1"/>
          <p:nvPr/>
        </p:nvSpPr>
        <p:spPr>
          <a:xfrm>
            <a:off x="1389888" y="2505456"/>
            <a:ext cx="107899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1">
                <a:solidFill>
                  <a:srgbClr val="C62828"/>
                </a:solidFill>
                <a:latin typeface="PingFang SC"/>
                <a:ea typeface="PingFang SC"/>
                <a:cs typeface="PingFang SC"/>
              </a:rPr>
              <a:t>A前兆 (点云帧)</a:t>
            </a:r>
          </a:p>
        </p:txBody>
      </p:sp>
      <p:sp>
        <p:nvSpPr>
          <p:cNvPr id="179" name="Badge-e3u"/>
          <p:cNvSpPr txBox="1"/>
          <p:nvPr/>
        </p:nvSpPr>
        <p:spPr>
          <a:xfrm>
            <a:off x="3749039" y="1682496"/>
            <a:ext cx="3840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e3u</a:t>
            </a:r>
          </a:p>
        </p:txBody>
      </p:sp>
      <p:sp>
        <p:nvSpPr>
          <p:cNvPr id="180" name="Badge-e4u"/>
          <p:cNvSpPr txBox="1"/>
          <p:nvPr/>
        </p:nvSpPr>
        <p:spPr>
          <a:xfrm>
            <a:off x="3511296" y="4626864"/>
            <a:ext cx="3840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e4u</a:t>
            </a:r>
          </a:p>
        </p:txBody>
      </p:sp>
      <p:sp>
        <p:nvSpPr>
          <p:cNvPr id="181" name="Card-e3u"/>
          <p:cNvSpPr/>
          <p:nvPr/>
        </p:nvSpPr>
        <p:spPr>
          <a:xfrm>
            <a:off x="2240280" y="603504"/>
            <a:ext cx="2487168" cy="91440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73152"/>
          <a:lstStyle/>
          <a:p>
            <a:pPr algn="l">
              <a:spcAft>
                <a:spcPts val="200"/>
              </a:spcAft>
            </a:pPr>
            <a:r>
              <a:rPr sz="1019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???? e3u (S3?S0) ? Agent A3u [L1]</a:t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91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??????????? AVB/BE (?A??)</a:t>
            </a:r>
            <a:r>
              <a:rPr sz="9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91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?????ST-A ? e3u ???? p_loc</a:t>
            </a:r>
            <a:r>
              <a:rPr sz="9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91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L1???????? ?_3u ? ??? ? ? m_A?e01</a:t>
            </a:r>
            <a:r>
              <a:rPr sz="86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cxnSp>
        <p:nvCxnSpPr>
          <p:cNvPr id="182" name="Ptr-Card-e3u"/>
          <p:cNvCxnSpPr/>
          <p:nvPr/>
        </p:nvCxnSpPr>
        <p:spPr>
          <a:xfrm>
            <a:off x="3675887" y="1517904"/>
            <a:ext cx="0" cy="384048"/>
          </a:xfrm>
          <a:prstGeom prst="line">
            <a:avLst/>
          </a:prstGeom>
          <a:ln w="14604">
            <a:solidFill>
              <a:srgbClr val="B4530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Card-e4u"/>
          <p:cNvSpPr/>
          <p:nvPr/>
        </p:nvSpPr>
        <p:spPr>
          <a:xfrm>
            <a:off x="2730500" y="53035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73152"/>
          <a:lstStyle/>
          <a:p>
            <a:pPr algn="l">
              <a:spcAft>
                <a:spcPts val="200"/>
              </a:spcAft>
            </a:pPr>
            <a:r>
              <a:rPr sz="1019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???? e4u (S4?S0) ? Agent A4u [L1]</a:t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91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??????????? AVB/BE (?B/C??)</a:t>
            </a:r>
            <a:r>
              <a:rPr sz="9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91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?????ST-B, ST-C ? e4u ???? p_loc</a:t>
            </a:r>
            <a:r>
              <a:rPr sz="9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91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L1???????? ?_4u ? ??? ? ? m_B, m_C</a:t>
            </a:r>
            <a:r>
              <a:rPr sz="86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cxnSp>
        <p:nvCxnSpPr>
          <p:cNvPr id="184" name="Ptr-Card-e4u"/>
          <p:cNvCxnSpPr/>
          <p:nvPr/>
        </p:nvCxnSpPr>
        <p:spPr>
          <a:xfrm flipV="1">
            <a:off x="3977639" y="5157216"/>
            <a:ext cx="0" cy="146304"/>
          </a:xfrm>
          <a:prstGeom prst="line">
            <a:avLst/>
          </a:prstGeom>
          <a:ln w="14604">
            <a:solidFill>
              <a:srgbClr val="B4530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Card-e01"/>
          <p:cNvSpPr/>
          <p:nvPr/>
        </p:nvSpPr>
        <p:spPr>
          <a:xfrm>
            <a:off x="5925312" y="603504"/>
            <a:ext cx="2505456" cy="91440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73152"/>
          <a:lstStyle/>
          <a:p>
            <a:pPr algn="l">
              <a:spcAft>
                <a:spcPts val="200"/>
              </a:spcAft>
            </a:pPr>
            <a:r>
              <a:rPr sz="1019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???? e01 (S0,P1?S1) ? Agent A01 [L2]</a:t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91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??????? P1 ????? AVB/BE ??</a:t>
            </a:r>
            <a:r>
              <a:rPr sz="9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91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??????? p_loc(A,B) + ?? m_A, m_B</a:t>
            </a:r>
            <a:r>
              <a:rPr sz="9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91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L2???????? ?_01 ? ?_time ? C1/C2/C3</a:t>
            </a:r>
            <a:r>
              <a:rPr sz="86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cxnSp>
        <p:nvCxnSpPr>
          <p:cNvPr id="186" name="Ptr-Card-e01"/>
          <p:cNvCxnSpPr/>
          <p:nvPr/>
        </p:nvCxnSpPr>
        <p:spPr>
          <a:xfrm>
            <a:off x="7178040" y="1517904"/>
            <a:ext cx="0" cy="310896"/>
          </a:xfrm>
          <a:prstGeom prst="line">
            <a:avLst/>
          </a:prstGeom>
          <a:ln w="14604">
            <a:solidFill>
              <a:srgbClr val="B4530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Card-e02"/>
          <p:cNvSpPr/>
          <p:nvPr/>
        </p:nvSpPr>
        <p:spPr>
          <a:xfrm>
            <a:off x="6089904" y="5303520"/>
            <a:ext cx="2523744" cy="91440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73152"/>
          <a:lstStyle/>
          <a:p>
            <a:pPr algn="l">
              <a:spcAft>
                <a:spcPts val="200"/>
              </a:spcAft>
            </a:pPr>
            <a:r>
              <a:rPr sz="1019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???? e02 (S0,P2?S2) ? Agent A02 [L2]</a:t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91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??????? P2 ????? AVB/BE ??</a:t>
            </a:r>
            <a:r>
              <a:rPr sz="9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91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??????? p_loc(C) + ?? m_C</a:t>
            </a:r>
            <a:r>
              <a:rPr sz="9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91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L2???????? ?_02 ? ?_time ? C1/C2/C3</a:t>
            </a:r>
            <a:r>
              <a:rPr sz="86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cxnSp>
        <p:nvCxnSpPr>
          <p:cNvPr id="188" name="Ptr-Card-e02"/>
          <p:cNvCxnSpPr/>
          <p:nvPr/>
        </p:nvCxnSpPr>
        <p:spPr>
          <a:xfrm flipV="1">
            <a:off x="7178040" y="5102352"/>
            <a:ext cx="0" cy="201168"/>
          </a:xfrm>
          <a:prstGeom prst="line">
            <a:avLst/>
          </a:prstGeom>
          <a:ln w="14604">
            <a:solidFill>
              <a:srgbClr val="B4530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Card-S0-Boundary"/>
          <p:cNvSpPr/>
          <p:nvPr/>
        </p:nvSpPr>
        <p:spPr>
          <a:xfrm>
            <a:off x="6291072" y="2852928"/>
            <a:ext cx="2322576" cy="12984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4604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73152"/>
          <a:lstStyle/>
          <a:p>
            <a:pPr algn="l">
              <a:spcAft>
                <a:spcPts val="200"/>
              </a:spcAft>
            </a:pPr>
            <a:r>
              <a:rPr sz="96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S0 ??????????????????</a:t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88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? ???????????? AVB/BE ?? O_e</a:t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88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? e01 ? e02 ??/????????????</a:t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88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? ????????????? m_A, m_B / m_C</a:t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88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? ?????? ?_e?????????????</a:t>
            </a:r>
          </a:p>
        </p:txBody>
      </p:sp>
      <p:sp>
        <p:nvSpPr>
          <p:cNvPr id="190" name="Legend-Banner"/>
          <p:cNvSpPr/>
          <p:nvPr/>
        </p:nvSpPr>
        <p:spPr>
          <a:xfrm>
            <a:off x="4089400" y="73152"/>
            <a:ext cx="7747000" cy="3840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/>
          <a:lstStyle/>
          <a:p>
            <a:pPr algn="l"/>
            <a:r>
              <a: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DAG ???AVB/BE ? p_loc ? L1 ?? ?_u + Mapper ?? m ? L2 ?? ?_d ? ??????</a:t>
            </a:r>
            <a:r>
              <a:rPr sz="900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cxnSp>
        <p:nvCxnSpPr>
          <p:cNvPr id="191" name="Legend-Line-ST"/>
          <p:cNvCxnSpPr/>
          <p:nvPr/>
        </p:nvCxnSpPr>
        <p:spPr>
          <a:xfrm>
            <a:off x="8119872" y="265176"/>
            <a:ext cx="347472" cy="0"/>
          </a:xfrm>
          <a:prstGeom prst="line">
            <a:avLst/>
          </a:prstGeom>
          <a:ln w="35560">
            <a:solidFill>
              <a:srgbClr val="C6282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Legend-Txt-ST"/>
          <p:cNvSpPr txBox="1"/>
          <p:nvPr/>
        </p:nvSpPr>
        <p:spPr>
          <a:xfrm>
            <a:off x="8503920" y="155448"/>
            <a:ext cx="1051560" cy="219456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ST控制流(2.8pt)</a:t>
            </a:r>
          </a:p>
        </p:txBody>
      </p:sp>
      <p:cxnSp>
        <p:nvCxnSpPr>
          <p:cNvPr id="193" name="Legend-Line-Pre"/>
          <p:cNvCxnSpPr/>
          <p:nvPr/>
        </p:nvCxnSpPr>
        <p:spPr>
          <a:xfrm>
            <a:off x="9582912" y="265176"/>
            <a:ext cx="347472" cy="0"/>
          </a:xfrm>
          <a:prstGeom prst="line">
            <a:avLst/>
          </a:prstGeom>
          <a:ln w="15240">
            <a:solidFill>
              <a:srgbClr val="1565C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Legend-Txt-Pre"/>
          <p:cNvSpPr txBox="1"/>
          <p:nvPr/>
        </p:nvSpPr>
        <p:spPr>
          <a:xfrm>
            <a:off x="9966960" y="155448"/>
            <a:ext cx="1024128" cy="219456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伴随前兆(1.2pt)</a:t>
            </a:r>
          </a:p>
        </p:txBody>
      </p:sp>
      <p:cxnSp>
        <p:nvCxnSpPr>
          <p:cNvPr id="195" name="Legend-Line-Phy"/>
          <p:cNvCxnSpPr/>
          <p:nvPr/>
        </p:nvCxnSpPr>
        <p:spPr>
          <a:xfrm>
            <a:off x="10991088" y="265176"/>
            <a:ext cx="292608" cy="0"/>
          </a:xfrm>
          <a:prstGeom prst="line">
            <a:avLst/>
          </a:prstGeom>
          <a:ln w="15240">
            <a:solidFill>
              <a:srgbClr val="B8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Legend-Txt-Phy"/>
          <p:cNvSpPr txBox="1"/>
          <p:nvPr/>
        </p:nvSpPr>
        <p:spPr>
          <a:xfrm>
            <a:off x="11311128" y="155448"/>
            <a:ext cx="530352" cy="219456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物理链路</a:t>
            </a:r>
          </a:p>
        </p:txBody>
      </p:sp>
      <p:cxnSp>
        <p:nvCxnSpPr>
          <p:cNvPr id="210" name="Msg-mA-e3u-e01"/>
          <p:cNvCxnSpPr/>
          <p:nvPr/>
        </p:nvCxnSpPr>
        <p:spPr>
          <a:xfrm>
            <a:off x="4724400" y="1054100"/>
            <a:ext cx="1181100" cy="0"/>
          </a:xfrm>
          <a:prstGeom prst="line">
            <a:avLst/>
          </a:prstGeom>
          <a:ln w="14604">
            <a:solidFill>
              <a:srgbClr val="7C3AE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Badge-mA"/>
          <p:cNvSpPr txBox="1"/>
          <p:nvPr/>
        </p:nvSpPr>
        <p:spPr>
          <a:xfrm>
            <a:off x="4749800" y="825500"/>
            <a:ext cx="1143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6D28D9"/>
                </a:solidFill>
                <a:latin typeface="PingFang SC"/>
                <a:ea typeface="PingFang SC"/>
                <a:cs typeface="PingFang SC"/>
              </a:rPr>
              <a:t>m_A: ??????</a:t>
            </a:r>
          </a:p>
        </p:txBody>
      </p:sp>
      <p:cxnSp>
        <p:nvCxnSpPr>
          <p:cNvPr id="212" name="Msg-mC-e4u-e02"/>
          <p:cNvCxnSpPr/>
          <p:nvPr/>
        </p:nvCxnSpPr>
        <p:spPr>
          <a:xfrm>
            <a:off x="5207000" y="5753100"/>
            <a:ext cx="863600" cy="0"/>
          </a:xfrm>
          <a:prstGeom prst="line">
            <a:avLst/>
          </a:prstGeom>
          <a:ln w="14604">
            <a:solidFill>
              <a:srgbClr val="7C3AE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Badge-mC"/>
          <p:cNvSpPr txBox="1"/>
          <p:nvPr/>
        </p:nvSpPr>
        <p:spPr>
          <a:xfrm>
            <a:off x="5207000" y="5524500"/>
            <a:ext cx="8636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6D28D9"/>
                </a:solidFill>
                <a:latin typeface="PingFang SC"/>
                <a:ea typeface="PingFang SC"/>
                <a:cs typeface="PingFang SC"/>
              </a:rPr>
              <a:t>m_C: ??????</a:t>
            </a:r>
          </a:p>
        </p:txBody>
      </p:sp>
      <p:cxnSp>
        <p:nvCxnSpPr>
          <p:cNvPr id="214" name="Msg-mB-e4u-e01"/>
          <p:cNvCxnSpPr/>
          <p:nvPr/>
        </p:nvCxnSpPr>
        <p:spPr>
          <a:xfrm flipV="1">
            <a:off x="5194300" y="1422400"/>
            <a:ext cx="711200" cy="3937000"/>
          </a:xfrm>
          <a:prstGeom prst="line">
            <a:avLst/>
          </a:prstGeom>
          <a:ln w="14604">
            <a:solidFill>
              <a:srgbClr val="7C3AE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Badge-mB"/>
          <p:cNvSpPr txBox="1"/>
          <p:nvPr/>
        </p:nvSpPr>
        <p:spPr>
          <a:xfrm>
            <a:off x="4927600" y="2540000"/>
            <a:ext cx="12065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6D28D9"/>
                </a:solidFill>
                <a:latin typeface="PingFang SC"/>
                <a:ea typeface="PingFang SC"/>
                <a:cs typeface="PingFang SC"/>
              </a:rPr>
              <a:t>m_B: e4u?e01 ??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WPS 文字</Application>
  <PresentationFormat>宽屏</PresentationFormat>
  <Paragraphs>56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PingFang SC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   旁白路人</cp:lastModifiedBy>
  <cp:revision>165</cp:revision>
  <dcterms:created xsi:type="dcterms:W3CDTF">2026-10-19T05:20:55Z</dcterms:created>
  <dcterms:modified xsi:type="dcterms:W3CDTF">2026-10-19T05:20:55Z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8B4BF75A16F6A2C8B7A8D56AC4B6EA60_43</vt:lpwstr>
  </property>
</Properties>
</file>